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58368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2-HOUR HANDS-ON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78992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1E2731"/>
                </a:solidFill>
                <a:latin typeface="Aptos"/>
              </a:defRPr>
            </a:pPr>
            <a:r>
              <a:t>Workshop on Building a Mini Vending Machine</a:t>
            </a:r>
          </a:p>
          <a:p>
            <a:pPr algn="l">
              <a:spcAft>
                <a:spcPts val="200"/>
              </a:spcAft>
              <a:defRPr sz="3000" b="1">
                <a:solidFill>
                  <a:srgbClr val="1E2731"/>
                </a:solidFill>
                <a:latin typeface="Aptos"/>
              </a:defRPr>
            </a:pPr>
            <a:r>
              <a:t>Integrated with QRIS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52928"/>
            <a:ext cx="10332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5C6772"/>
                </a:solidFill>
                <a:latin typeface="Aptos"/>
              </a:defRPr>
            </a:pPr>
            <a:r>
              <a:t>Live demonstration · Python application · Arduino Uno · QRIS sandbox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703320"/>
            <a:ext cx="10561320" cy="18288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977639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315968"/>
            <a:ext cx="5303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1E2731"/>
                </a:solidFill>
                <a:latin typeface="Aptos"/>
              </a:defRPr>
            </a:pPr>
            <a:r>
              <a:t>Ajang Rahmat, S.Kom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773168"/>
            <a:ext cx="5852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5C6772"/>
                </a:solidFill>
                <a:latin typeface="Aptos"/>
              </a:defRPr>
            </a:pPr>
            <a:r>
              <a:t>Electrical Engineering · Nusa Putra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138928"/>
            <a:ext cx="36576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765A1"/>
                </a:solidFill>
                <a:latin typeface="Aptos"/>
              </a:defRPr>
            </a:pPr>
            <a:r>
              <a:t>nutral.id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760720"/>
            <a:ext cx="103327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Build with the supplied source code. Learn by observing, wiring, uploading, and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01 · OPENING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Watch the complete experience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The instructor demonstrates the goal before explaining the parts.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148840"/>
            <a:ext cx="2587752" cy="10789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0428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2765A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304288"/>
            <a:ext cx="1828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Select a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87168"/>
            <a:ext cx="2103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148840"/>
            <a:ext cx="2587752" cy="107899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30428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237D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304288"/>
            <a:ext cx="1828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Show the QRIS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487168"/>
            <a:ext cx="2103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2148840"/>
            <a:ext cx="2587752" cy="107899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30428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A76F2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304288"/>
            <a:ext cx="1828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Confirm the test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487168"/>
            <a:ext cx="2103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2015" y="2148840"/>
            <a:ext cx="2587752" cy="10789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7" y="2304288"/>
            <a:ext cx="3657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2765A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2304288"/>
            <a:ext cx="1828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E2731"/>
                </a:solidFill>
                <a:latin typeface="Aptos"/>
              </a:defRPr>
            </a:pPr>
            <a:r>
              <a:t>Light the matching 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86200"/>
            <a:ext cx="4983480" cy="100584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3886200"/>
            <a:ext cx="54864" cy="100584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9959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NOTICE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79392"/>
            <a:ext cx="46177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The QR payment shown in the workshop must use instructor-approved sandbox credentials.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886200"/>
            <a:ext cx="4983480" cy="100584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886200"/>
            <a:ext cx="54864" cy="100584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79392"/>
            <a:ext cx="46177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What did the application do? What did the Arduino do? Where did the QR payment fit?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02 · THE PROJECT IN 5W1H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Answer the big questions before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Start with the purpose and user experience—not with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4983480" cy="9875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54864" cy="98755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WHAT?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4617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A desktop vending interface connected to an Arduino-controlled LED 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4983480" cy="9875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4864" cy="98755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617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To make software, payment status, serial messages, and physical output tangible.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999232"/>
            <a:ext cx="4983480" cy="98755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999232"/>
            <a:ext cx="54864" cy="987552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108960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WHO?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92424"/>
            <a:ext cx="4617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A customer selects a product; an operator configures and monitors the machine.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999232"/>
            <a:ext cx="4983480" cy="9875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999232"/>
            <a:ext cx="54864" cy="98755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WHERE?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92424"/>
            <a:ext cx="4617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Python runs on a computer; Arduino Uno runs the hardware sketch.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215384"/>
            <a:ext cx="4983480" cy="9875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215384"/>
            <a:ext cx="54864" cy="98755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25112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WHEN?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608576"/>
            <a:ext cx="4617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The output is requested only after the payment flow reports success.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215384"/>
            <a:ext cx="4983480" cy="98755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215384"/>
            <a:ext cx="54864" cy="987552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325112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HOW?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608576"/>
            <a:ext cx="4617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Python sends a serial command; Arduino maps the requested slot to an LED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03 · 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Four parts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The workshop uses LEDs as a safe, visible stand-in for vending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2331720"/>
            <a:ext cx="2514600" cy="118872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21945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Selects a product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and scans a 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724912"/>
            <a:ext cx="2560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2331720"/>
            <a:ext cx="2514600" cy="118872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514600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PYTHON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852928"/>
            <a:ext cx="21945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Shows products,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cart, and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724912"/>
            <a:ext cx="2560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3952" y="2331720"/>
            <a:ext cx="2514600" cy="118872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514600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SERIAL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2852928"/>
            <a:ext cx="21945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Carries commands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through USB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2724912"/>
            <a:ext cx="25603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5C677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2331720"/>
            <a:ext cx="2514600" cy="118872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8904" y="2514600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ARDUINO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2852928"/>
            <a:ext cx="21945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Turns on the LED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for the chosen slot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206240"/>
            <a:ext cx="10287000" cy="86868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206240"/>
            <a:ext cx="54864" cy="86868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1596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IMPORTANT DISTINCTION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599431"/>
            <a:ext cx="992124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The application, payment provider, serial connection, and output circuit are separate layers. A success message is not proof that a physical product was dispensed.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04 · WHY THESE TOOLS?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Use the right tool for each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A small prototype is easier to understand when each part has one clear job.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201168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783080"/>
            <a:ext cx="809244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3852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765A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920240"/>
            <a:ext cx="7589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Fast to read and change; coordinates the interface, cart, and payment 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569464"/>
            <a:ext cx="201168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2569464"/>
            <a:ext cx="809244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724912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37D7E"/>
                </a:solidFill>
                <a:latin typeface="Aptos"/>
              </a:defRPr>
            </a:pPr>
            <a:r>
              <a:t>Tkinter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706624"/>
            <a:ext cx="7589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Included with standard Python; creates the desktop window and buttons.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355848"/>
            <a:ext cx="2011680" cy="56692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3240" y="3355848"/>
            <a:ext cx="8092440" cy="56692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11296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A76F2B"/>
                </a:solidFill>
                <a:latin typeface="Aptos"/>
              </a:defRPr>
            </a:pPr>
            <a:r>
              <a:t>Arduino Uno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493008"/>
            <a:ext cx="7589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Reads a small sketch and controls hardware outputs predictably.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142232"/>
            <a:ext cx="201168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40" y="4142232"/>
            <a:ext cx="809244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297680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765A1"/>
                </a:solidFill>
                <a:latin typeface="Aptos"/>
              </a:defRPr>
            </a:pPr>
            <a:r>
              <a:t>USB serial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279392"/>
            <a:ext cx="7589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Simple text messages connect the computer to the microcontroller.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928616"/>
            <a:ext cx="201168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63240" y="4928616"/>
            <a:ext cx="809244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084064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37D7E"/>
                </a:solidFill>
                <a:latin typeface="Aptos"/>
              </a:defRPr>
            </a:pPr>
            <a:r>
              <a:t>QRIS sandbox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065776"/>
            <a:ext cx="75895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Allows a controlled payment-flow demonstration without production payments.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05 · TWO-HOUR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A demonstration, then a guided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Installers and hardware should be ready before the hands-on session begins.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64208"/>
            <a:ext cx="4983480" cy="6217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847088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00–08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Instructor live demonstration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64208"/>
            <a:ext cx="4983480" cy="62179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847088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7D7E"/>
                </a:solidFill>
                <a:latin typeface="Aptos"/>
              </a:defRPr>
            </a:pPr>
            <a:r>
              <a:t>08–20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83080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Project purpose and 5W1H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496312"/>
            <a:ext cx="4983480" cy="62179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7" y="2679192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A76F2B"/>
                </a:solidFill>
                <a:latin typeface="Aptos"/>
              </a:defRPr>
            </a:pPr>
            <a:r>
              <a:t>20–40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15184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Install tools, create a virtual environment, install packages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496312"/>
            <a:ext cx="4983480" cy="6217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679192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40–55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615184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Run and explore the supplied Python 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328416"/>
            <a:ext cx="4983480" cy="62179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7" y="3511296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7D7E"/>
                </a:solidFill>
                <a:latin typeface="Aptos"/>
              </a:defRPr>
            </a:pPr>
            <a:r>
              <a:t>55–65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447288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Electronics, pin map, and safety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328416"/>
            <a:ext cx="4983480" cy="62179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511296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A76F2B"/>
                </a:solidFill>
                <a:latin typeface="Aptos"/>
              </a:defRPr>
            </a:pPr>
            <a:r>
              <a:t>65–80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447288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Wire one LED; extend to three or six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160520"/>
            <a:ext cx="4983480" cy="6217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7" y="4343400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80–100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279392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Write, upload, and test the Arduino sketch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160520"/>
            <a:ext cx="4983480" cy="62179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343400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7D7E"/>
                </a:solidFill>
                <a:latin typeface="Aptos"/>
              </a:defRPr>
            </a:pPr>
            <a:r>
              <a:t>100–110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279392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Test the serial protocol and integration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992624"/>
            <a:ext cx="4983480" cy="62179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7" y="517550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A76F2B"/>
                </a:solidFill>
                <a:latin typeface="Aptos"/>
              </a:defRPr>
            </a:pPr>
            <a:r>
              <a:t>110–115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111496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Review and evaluation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992624"/>
            <a:ext cx="4983480" cy="62179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517550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115–120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111496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Questions and answers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06 · BEFORE THE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Prepare computers and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Pre-downloading installers saves hands-on time; installation and verification happen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4983480" cy="126187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54864" cy="126187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4617720" cy="8229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Python 3.11.9 (Windows installer)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Visual Studio Code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Arduino IDE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Project source folder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4983480" cy="126187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4864" cy="126187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HARDWARE PER PARTICIPANT /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617720" cy="8229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Arduino Uno and USB data cable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Breadboard and jumper wires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1–6 LEDs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One 220–330 Ω resistor per 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29000"/>
            <a:ext cx="10287000" cy="9144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429000"/>
            <a:ext cx="54864" cy="91440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3872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INSTRUCTOR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1"/>
            <a:ext cx="9921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Share the project source and installers in advance. Prepare a verified sandbox account for the opening demo; participants must not use production payment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07 · INSTALL THE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Install Python 3.11.9, VS Code, and Arduino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Use official download sources; choose the Windows versions that match the classroom computers.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10287000" cy="603504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47672"/>
            <a:ext cx="3200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765A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20240"/>
            <a:ext cx="9052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Install Python 3.11.9. Enable the Python Launcher if offered.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87752"/>
            <a:ext cx="10287000" cy="603504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52344"/>
            <a:ext cx="3200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37D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24912"/>
            <a:ext cx="9052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Install Visual Studio Code and open the supplied project folder.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392424"/>
            <a:ext cx="10287000" cy="603504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57016"/>
            <a:ext cx="3200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A76F2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9052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Install Arduino IDE and the Arduino AVR Boards / Uno support.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197096"/>
            <a:ext cx="10287000" cy="603504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61688"/>
            <a:ext cx="3200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765A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34256"/>
            <a:ext cx="9052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2731"/>
                </a:solidFill>
                <a:latin typeface="Aptos"/>
              </a:defRPr>
            </a:pPr>
            <a:r>
              <a:t>Connect the Uno with a USB data cable; note its COM 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230368"/>
            <a:ext cx="1028700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230368"/>
            <a:ext cx="50292" cy="6400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40096"/>
            <a:ext cx="9921240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731"/>
                </a:solidFill>
                <a:latin typeface="Consolas"/>
              </a:defRPr>
            </a:pPr>
            <a:r>
              <a:t>py -3.11 --version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7D7E"/>
                </a:solidFill>
                <a:latin typeface="Aptos"/>
              </a:defRPr>
            </a:pPr>
            <a:r>
              <a:t>Expected: Python 3.11.9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08 · SET UP THE PYTHON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Create a project-local virtual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Run commands in the VS Code terminal with the supplied project folder as the current directory.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0287000" cy="2423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83080"/>
            <a:ext cx="50292" cy="24231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7"/>
            <a:ext cx="9921240" cy="2203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py -3.11 -m venv .venv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.venv\Scripts\python.exe -m pip install --upgrade pip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.venv\Scripts\python.exe -m pip install -r requirements.txt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.venv\Scripts\python.exe -c "import tkinter, serial, PIL, qrcode; print('Setup OK')"</a:t>
            </a:r>
          </a:p>
          <a:p>
            <a:pPr>
              <a:spcAft>
                <a:spcPts val="200"/>
              </a:spcAft>
              <a:defRPr sz="1400">
                <a:solidFill>
                  <a:srgbClr val="1E2731"/>
                </a:solidFill>
                <a:latin typeface="Consolas"/>
              </a:defRPr>
            </a:pPr>
            <a:r>
              <a:t>.venv\Scripts\python.exe main.py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526280"/>
            <a:ext cx="4983480" cy="86868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526280"/>
            <a:ext cx="54864" cy="8686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360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WHY A VIRTUAL ENVIRONMENT?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1947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It keeps this project's packages separate from other Python projects.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526280"/>
            <a:ext cx="4983480" cy="86868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526280"/>
            <a:ext cx="54864" cy="86868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63600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IF SOMETHING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919472"/>
            <a:ext cx="461772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Check the current folder, Python version, and full error message before retrying.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09 · EXPLORE THE SUPPLIED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Read the project map before changing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Participants use the finished Python source; this workshop is not a from-scratch Python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19072"/>
            <a:ext cx="3063240" cy="4572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719072"/>
            <a:ext cx="7040880" cy="4572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837943"/>
            <a:ext cx="28346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819656"/>
            <a:ext cx="6583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Connects the application flow and button 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340864"/>
            <a:ext cx="3063240" cy="4572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340864"/>
            <a:ext cx="7040880" cy="4572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459736"/>
            <a:ext cx="28346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vending_ui.py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441448"/>
            <a:ext cx="6583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Builds the Tkinter interface.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962656"/>
            <a:ext cx="3063240" cy="4572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962656"/>
            <a:ext cx="7040880" cy="4572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081528"/>
            <a:ext cx="28346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inventory.py · cart.py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63240"/>
            <a:ext cx="6583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Define products, stock, and cart rules.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584448"/>
            <a:ext cx="3063240" cy="4572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3584448"/>
            <a:ext cx="7040880" cy="4572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703320"/>
            <a:ext cx="28346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configuration.py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685032"/>
            <a:ext cx="6583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Selects demo, sandbox, or production settings.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206240"/>
            <a:ext cx="3063240" cy="4572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4206240"/>
            <a:ext cx="7040880" cy="4572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325112"/>
            <a:ext cx="28346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serial_controller.py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306824"/>
            <a:ext cx="6583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Sends commands and checks Arduino responses.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828032"/>
            <a:ext cx="3063240" cy="4572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4828032"/>
            <a:ext cx="7040880" cy="4572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946904"/>
            <a:ext cx="28346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firmware/.../vending_controller.ino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928616"/>
            <a:ext cx="6583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Arduino sketch for the vending controller.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Goal: recognize responsibilities and follow one event across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10 · RUN THE EXISTING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Start with a working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Do not edit the payment configuration or copy secrets into the workshop folder.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0972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0972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1E2731"/>
                </a:solidFill>
                <a:latin typeface="Consolas"/>
              </a:defRPr>
            </a:pPr>
            <a:r>
              <a:t>.venv\Scripts\python.exe main.py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337560"/>
            <a:ext cx="4983480" cy="1143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337560"/>
            <a:ext cx="54864" cy="11430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472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CHECK THE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30752"/>
            <a:ext cx="4617720" cy="704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Window opens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Product cards and stock are visible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Select a product and observe the cart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337560"/>
            <a:ext cx="4983480" cy="11430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337560"/>
            <a:ext cx="54864" cy="11430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44728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PAYMENT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30752"/>
            <a:ext cx="4617720" cy="704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No provider key: local simulation only. With an approved sandbox key: sandbox QRIS checkout. Never scan or test production credentials in class.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846320"/>
            <a:ext cx="10287000" cy="68580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846320"/>
            <a:ext cx="54864" cy="68580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5604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SAFE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39512"/>
            <a:ext cx="992124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Keep MODE_DEMO=1 and SUMOPOD_SANDBOX=1. Do not display .env or share API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11 · ELECTRONICS AND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Start with a low-voltage LED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An LED is a simple output indicator; it is not a motor or a vending mechanism.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4983480" cy="118872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54864" cy="118872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ONE LED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46177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Arduino Uno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Breadboard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LED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220–330 Ω series resistor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Jumper wires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4983480" cy="118872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4864" cy="118872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SAFETY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6177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Disconnect USB before rewiring. Use one resistor per LED. Never connect an LED directly to a pin. Do not connect mains voltage, motors, or relay loads in this activity.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37D7E"/>
                </a:solidFill>
                <a:latin typeface="Aptos"/>
              </a:defRPr>
            </a:pPr>
            <a:r>
              <a:t>Long LED leg = anode (+)     Short leg / flat edge = cathode (−)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069080"/>
            <a:ext cx="10287000" cy="82296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69080"/>
            <a:ext cx="54864" cy="8229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7880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UNO PIN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62272"/>
            <a:ext cx="99212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Each output pin drives only its own LED through a resistor. Stay within Arduino Uno pin-current limits; use the instructor-approved circuit and do not power external loads from GPIO pins.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12 · WIRE THE FIRST 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Build and inspect one complete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Keep the Arduino disconnected from USB until the wiring has been checked.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3258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3258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1106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Arduino D2 ── 220–330 Ω resistor ── LED anode (+)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Arduino GND ─────────────────────────── LED cathode (−)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566160"/>
            <a:ext cx="498348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56616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7588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CHECK THE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5935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D2 → resistor → long LED leg → short LED leg → GND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566160"/>
            <a:ext cx="498348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566160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7588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BEFORE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5935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Check polarity, resistor placement, and that no rail is shorted.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A76F2B"/>
                </a:solidFill>
                <a:latin typeface="Aptos"/>
              </a:defRPr>
            </a:pPr>
            <a:r>
              <a:t>When the one-LED test works, duplicate the circuit on D3–D7.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13 · SCALE TO THREE OR SIX LEDS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One product slot maps to one output 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Start with one LED. Add more only after the first output 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3200400" cy="80467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65960"/>
            <a:ext cx="54864" cy="80467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2834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Slot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59152"/>
            <a:ext cx="2834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D2 → resistor → LED → GND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3200400" cy="80467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65960"/>
            <a:ext cx="54864" cy="80467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75688"/>
            <a:ext cx="2834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Slot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59152"/>
            <a:ext cx="2834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D3 → resistor → LED → GND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965960"/>
            <a:ext cx="3200400" cy="80467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965960"/>
            <a:ext cx="54864" cy="804672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075688"/>
            <a:ext cx="2834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Slot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359152"/>
            <a:ext cx="2834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D4 → resistor → LED → GND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154680"/>
            <a:ext cx="3200400" cy="80467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154680"/>
            <a:ext cx="54864" cy="804672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264408"/>
            <a:ext cx="2834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Slot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47872"/>
            <a:ext cx="2834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D5 → resistor → LED → GND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154680"/>
            <a:ext cx="3200400" cy="80467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154680"/>
            <a:ext cx="54864" cy="804672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264408"/>
            <a:ext cx="2834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Slot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547872"/>
            <a:ext cx="2834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D6 → resistor → LED → GND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3154680"/>
            <a:ext cx="3200400" cy="80467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9560" y="3154680"/>
            <a:ext cx="54864" cy="804672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3264408"/>
            <a:ext cx="2834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Slot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547872"/>
            <a:ext cx="28346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D7 → resistor → LED → GND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709160"/>
            <a:ext cx="10287000" cy="82296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4709160"/>
            <a:ext cx="54864" cy="82296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81888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WIRING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102352"/>
            <a:ext cx="99212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Each LED has its own resistor and its own output pin. Keep every cathode on the common GND rail.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14 · WRITE THE ARDUINO SKETCH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Use the same serial protocol as the Python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This classroom sketch drives LEDs directly with active-HIGH outputs; it is not the relay firmware.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73352"/>
            <a:ext cx="10287000" cy="4434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673352"/>
            <a:ext cx="50292" cy="44348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83080"/>
            <a:ext cx="9921240" cy="4215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const byte LEDS[] = {2, 3, 4, 5, 6, 7};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const byte SLOT_COUNT = sizeof(LEDS) / sizeof(LEDS[0]);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void setup() {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Serial.begin(9600);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Serial.setTimeout(100);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for (byte i = 0; i &lt; SLOT_COUNT; i++) {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  pinMode(LEDS[i], OUTPUT);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  digitalWrite(LEDS[i], LOW);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Serial.println("READY");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void loop() {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if (!Serial.available()) return;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String command = Serial.readStringUntil('\n');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command.trim();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if (command == "PING") { Serial.println("PONG"); return; }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if (!command.startsWith("DISPENSE,")) {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  Serial.println("ERROR,UNKNOWN_COMMAND"); return;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int slot = command.substring(9).toInt();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if (slot &lt; 1 || slot &gt; SLOT_COUNT) {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  Serial.println("ERROR,INVALID_SLOT"); return;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byte led = LEDS[slot - 1];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digitalWrite(led, HIGH);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delay(500);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digitalWrite(led, LOW);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  Serial.print("DONE,"); Serial.println(slot);</a:t>
            </a:r>
          </a:p>
          <a:p>
            <a:pPr>
              <a:spcAft>
                <a:spcPts val="200"/>
              </a:spcAft>
              <a:defRPr sz="1000">
                <a:solidFill>
                  <a:srgbClr val="1E2731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15 · UPLOAD AND TEST THE SKETCH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Compile first, then upload to the 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Use the USB cable, correct board, correct port, and the serial speed configured in the sketch.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10287000" cy="5303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83664"/>
            <a:ext cx="3200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56231"/>
            <a:ext cx="905256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Open the sketch in Arduino 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432304"/>
            <a:ext cx="10287000" cy="5303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78608"/>
            <a:ext cx="3200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7D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51176"/>
            <a:ext cx="905256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Tools → Board → Arduino Uno; Tools → Port → the Uno COM 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127248"/>
            <a:ext cx="10287000" cy="53035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73552"/>
            <a:ext cx="3200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A76F2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46120"/>
            <a:ext cx="905256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Click Verify. Resolve compile errors before uploading.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822191"/>
            <a:ext cx="10287000" cy="5303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968496"/>
            <a:ext cx="3200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41063"/>
            <a:ext cx="905256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Click Upload; wait for the upload-complete message.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517136"/>
            <a:ext cx="10287000" cy="5303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63440"/>
            <a:ext cx="3200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37D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636007"/>
            <a:ext cx="905256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2731"/>
                </a:solidFill>
                <a:latin typeface="Aptos"/>
              </a:defRPr>
            </a:pPr>
            <a:r>
              <a:t>Open Serial Monitor at 9600 baud; select Newline as line ending.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A76F2B"/>
                </a:solidFill>
                <a:latin typeface="Aptos"/>
              </a:defRPr>
            </a:pPr>
            <a:r>
              <a:t>Close Serial Monitor before Python opens the same COM 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16 · VERIFY THE SERIAL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Test the board before connecting the desktop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Send each command in Serial Monitor and compare the expected 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1028700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92807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Board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74519"/>
            <a:ext cx="26517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Consolas"/>
              </a:defRPr>
            </a:pPr>
            <a:r>
              <a:t>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74519"/>
            <a:ext cx="3931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Printed after reset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487168"/>
            <a:ext cx="1028700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642615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Send: 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624327"/>
            <a:ext cx="26517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Consolas"/>
              </a:defRPr>
            </a:pPr>
            <a:r>
              <a:t>PONG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24327"/>
            <a:ext cx="3931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Board is responsive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236976"/>
            <a:ext cx="10287000" cy="56692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92424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Send: DISPENSE,1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374136"/>
            <a:ext cx="26517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Consolas"/>
              </a:defRPr>
            </a:pPr>
            <a:r>
              <a:t>DONE,1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374136"/>
            <a:ext cx="3931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D2 LED flashes once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986783"/>
            <a:ext cx="10287000" cy="566928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42231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Send: DISPENSE,3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123944"/>
            <a:ext cx="26517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Consolas"/>
              </a:defRPr>
            </a:pPr>
            <a:r>
              <a:t>DONE,3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123944"/>
            <a:ext cx="3931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D4 LED flashes once, if wired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736592"/>
            <a:ext cx="10287000" cy="566928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892040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Send: DISPENSE,9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873752"/>
            <a:ext cx="26517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2765A1"/>
                </a:solidFill>
                <a:latin typeface="Consolas"/>
              </a:defRPr>
            </a:pPr>
            <a:r>
              <a:t>ERROR,INVALID_SLOT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73752"/>
            <a:ext cx="3931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Invalid slot is rejected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05840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Every command ends with a newline. Both sides must use 9600 baud.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17 · FOLLOW THE PYTHON-TO-ARDUINO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The supplied serial module checks every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Find these functions in serial_controller.py; do not rewrite them during the workshop.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0287000" cy="19202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50292" cy="192024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9921240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serial_controller.connect("COM3", 9600)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serial_controller.check_ready()       # Python sends PING; expects PONG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serial_controller.dispense(slot)      # sends DISPENSE,&lt;slot&gt;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                                       # waits for DONE,&lt;slot&gt;</a:t>
            </a:r>
          </a:p>
          <a:p>
            <a:pPr>
              <a:spcAft>
                <a:spcPts val="200"/>
              </a:spcAft>
              <a:defRPr sz="1600">
                <a:solidFill>
                  <a:srgbClr val="1E2731"/>
                </a:solidFill>
                <a:latin typeface="Consolas"/>
              </a:defRPr>
            </a:pPr>
            <a:r>
              <a:t>serial_controller.disconnect()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160520"/>
            <a:ext cx="4983480" cy="9144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160520"/>
            <a:ext cx="54864" cy="91440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702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Replace COM3 with the port shown by Device Manager / Arduino 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160520"/>
            <a:ext cx="4983480" cy="91440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160520"/>
            <a:ext cx="54864" cy="91440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2702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PORT 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53712"/>
            <a:ext cx="46177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Close Arduino Serial Monitor before launching the Python app.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18 · OPTIONAL INSTRUCTOR-LED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Demonstrate QRIS sandbox to LED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Only the instructor should run this step with approved sandbox credentials.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3108960" cy="5486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783080"/>
            <a:ext cx="6995160" cy="5486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38528"/>
            <a:ext cx="27432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MODE_DEMO=0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6492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Enables the application's dispenser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542032"/>
            <a:ext cx="3108960" cy="54864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2542032"/>
            <a:ext cx="6995160" cy="54864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97479"/>
            <a:ext cx="27432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SUMOPOD_SANDBOX=1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79191"/>
            <a:ext cx="6492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Keeps the payment endpoint in sandbox.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300984"/>
            <a:ext cx="3108960" cy="54864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3300984"/>
            <a:ext cx="6995160" cy="54864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56432"/>
            <a:ext cx="27432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Arduino 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38144"/>
            <a:ext cx="6492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The app must receive READY and answer PING with PONG.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059935"/>
            <a:ext cx="3108960" cy="5486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4059935"/>
            <a:ext cx="6995160" cy="54864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215383"/>
            <a:ext cx="27432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Consolas"/>
              </a:defRPr>
            </a:pPr>
            <a:r>
              <a:t>Sandbox payment confirmed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97096"/>
            <a:ext cx="6492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The selected slot LED flashes after the payment is confirmed.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074920"/>
            <a:ext cx="10287000" cy="749808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5074920"/>
            <a:ext cx="54864" cy="749808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184648"/>
            <a:ext cx="9921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STOP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468112"/>
            <a:ext cx="99212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Never change SUMOPOD_SANDBOX to 0 during this workshop. Do not share API keys. Sandbox payments can still create test transactions and must use approved test credentials.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19 · TROUBLESHOOTING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Check one layer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Read the exact error and verify the nearest connection before changing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55648"/>
            <a:ext cx="3246120" cy="5303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755648"/>
            <a:ext cx="6858000" cy="5303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11095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Python command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83664"/>
            <a:ext cx="6492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Check Python 3.11.9 installation and the py launcher.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468880"/>
            <a:ext cx="3246120" cy="5303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6858000" cy="5303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62432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Package import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96896"/>
            <a:ext cx="6492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Use the .venv Python executable and install requirements.txt.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182112"/>
            <a:ext cx="3246120" cy="53035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82112"/>
            <a:ext cx="6858000" cy="530352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37560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Upload / COM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10128"/>
            <a:ext cx="6492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Check USB data cable, board selection, port selection, and driver.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895344"/>
            <a:ext cx="3246120" cy="5303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95344"/>
            <a:ext cx="6858000" cy="530352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050791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No READY / PONG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023359"/>
            <a:ext cx="6492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Close Serial Monitor; verify 9600 baud, newline, and the uploaded sketch.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608576"/>
            <a:ext cx="3246120" cy="5303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4608576"/>
            <a:ext cx="6858000" cy="530352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64024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2731"/>
                </a:solidFill>
                <a:latin typeface="Aptos"/>
              </a:defRPr>
            </a:pPr>
            <a:r>
              <a:t>Wrong LED lights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736592"/>
            <a:ext cx="6492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731"/>
                </a:solidFill>
                <a:latin typeface="Aptos"/>
              </a:defRPr>
            </a:pPr>
            <a:r>
              <a:t>Compare the slot-to-pin map and check LED polarity / wiring.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20 ·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Explain the system back in your own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Use the diagram and your successful test as evidence of understanding.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4983480" cy="105156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54864" cy="10515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PYTHON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Where are the products, cart rules, UI, payment configuration, and serial calls?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4983480" cy="105156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4864" cy="105156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92807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ARDUINO SKETCH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What do setup(), loop(), pinMode(), digitalWrite(), and Serial do?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246120"/>
            <a:ext cx="4983480" cy="1051560"/>
          </a:xfrm>
          <a:prstGeom prst="rect">
            <a:avLst/>
          </a:prstGeom>
          <a:solidFill>
            <a:srgbClr val="F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246120"/>
            <a:ext cx="54864" cy="1051560"/>
          </a:xfrm>
          <a:prstGeom prst="rect">
            <a:avLst/>
          </a:prstGeom>
          <a:solidFill>
            <a:srgbClr val="A76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55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76F2B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3931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What does PING/PONG verify? Why does DISPENSE include a slot number?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4983480" cy="105156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46120"/>
            <a:ext cx="54864" cy="10515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35584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PAYMENT AND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63931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731"/>
                </a:solidFill>
                <a:latin typeface="Aptos"/>
              </a:defRPr>
            </a:pPr>
            <a:r>
              <a:t>When may the output happen? Why must sandbox and production credentials stay separate?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241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37D7E"/>
                </a:solidFill>
                <a:latin typeface="Aptos"/>
              </a:defRPr>
            </a:pPr>
            <a:r>
              <a:t>Success criteria: app runs · circuit is safe · sketch uploads · serial test passes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10881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765A1"/>
                </a:solidFill>
                <a:latin typeface="Aptos"/>
              </a:defRPr>
            </a:pPr>
            <a:r>
              <a:t>21 · REFLECTION AND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50292" cy="41148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49224"/>
            <a:ext cx="1056132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E2731"/>
                </a:solidFill>
                <a:latin typeface="Aptos"/>
              </a:defRPr>
            </a:pPr>
            <a:r>
              <a:t>What worked, and what would you improve?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103784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Take one minute to reflect, then bring your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5C6772"/>
                </a:solidFill>
                <a:latin typeface="Aptos"/>
              </a:defRPr>
            </a:pPr>
            <a:r>
              <a:t>MINI VENDING MACHINE · 2-HOUR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53035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C677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4983480" cy="105156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54864" cy="1051560"/>
          </a:xfrm>
          <a:prstGeom prst="rect">
            <a:avLst/>
          </a:prstGeom>
          <a:solidFill>
            <a:srgbClr val="276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38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765A1"/>
                </a:solidFill>
                <a:latin typeface="Aptos"/>
              </a:defRPr>
            </a:pPr>
            <a:r>
              <a:t>REFLECT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Which part was easiest? Which part failed first? How did you isolate the problem?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4983480" cy="1051560"/>
          </a:xfrm>
          <a:prstGeom prst="rect">
            <a:avLst/>
          </a:prstGeom>
          <a:solidFill>
            <a:srgbClr val="ED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4864" cy="1051560"/>
          </a:xfrm>
          <a:prstGeom prst="rect">
            <a:avLst/>
          </a:prstGeom>
          <a:solidFill>
            <a:srgbClr val="237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237D7E"/>
                </a:solidFill>
                <a:latin typeface="Aptos"/>
              </a:defRPr>
            </a:pPr>
            <a:r>
              <a:t>NEXT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1992"/>
            <a:ext cx="4617720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731"/>
                </a:solidFill>
                <a:latin typeface="Aptos"/>
              </a:defRPr>
            </a:pPr>
            <a:r>
              <a:t>Add three LEDs, then six. Map each product slot to one LED and confirm the serial response.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2765A1"/>
                </a:solidFill>
                <a:latin typeface="Aptos"/>
              </a:defRPr>
            </a:pPr>
            <a:r>
              <a:t>Questions and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5C6772"/>
                </a:solidFill>
                <a:latin typeface="Aptos"/>
              </a:defRPr>
            </a:pPr>
            <a:r>
              <a:t>Ajang Rahmat, S.Kom  ·  Electrical Engineering, Nusa Putra University  ·  nutral.id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